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4"/>
  </p:notesMasterIdLst>
  <p:sldIdLst>
    <p:sldId id="256" r:id="rId3"/>
    <p:sldId id="257" r:id="rId17"/>
    <p:sldId id="258" r:id="rId18"/>
    <p:sldId id="259" r:id="rId19"/>
    <p:sldId id="260" r:id="rId20"/>
  </p:sldIdLst>
  <p:sldSz cx="9144000" cy="5143500" type="screen16x9"/>
  <p:notesSz cx="6858000" cy="9144000"/>
  <p:embeddedFontLst>
    <p:embeddedFont>
      <p:font typeface="Google Sans" panose="020B0604020202020204" charset="0"/>
      <p:regular r:id="rId5"/>
      <p:bold r:id="rId6"/>
      <p:italic r:id="rId7"/>
      <p:boldItalic r:id="rId8"/>
    </p:embeddedFont>
    <p:embeddedFont>
      <p:font typeface="Google Sans Medium" panose="020B060402020202020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4D6E6D-7547-4EDF-B692-FFDF4C537E73}">
  <a:tblStyle styleId="{304D6E6D-7547-4EDF-B692-FFDF4C537E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  <Relationship Id="rId17" Type="http://schemas.openxmlformats.org/officeDocument/2006/relationships/slide" Target="slides/slide2.xml"/>
  <Relationship Id="rId18" Type="http://schemas.openxmlformats.org/officeDocument/2006/relationships/slide" Target="slides/slide3.xml"/>
  <Relationship Id="rId19" Type="http://schemas.openxmlformats.org/officeDocument/2006/relationships/slide" Target="slides/slide4.xml"/>
  <Relationship Id="rId20" Type="http://schemas.openxmlformats.org/officeDocument/2006/relationships/slide" Target="slides/slide5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06e27f49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06e27f49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White Text" type="title">
  <p:cSld name="TITLE">
    <p:bg>
      <p:bgPr>
        <a:solidFill>
          <a:srgbClr val="050505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  <a:effectLst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Google Sans"/>
              <a:buNone/>
              <a:defRPr sz="72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 idx="2"/>
          </p:nvPr>
        </p:nvSpPr>
        <p:spPr>
          <a:xfrm>
            <a:off x="1534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Black Text">
  <p:cSld name="TITLE_6"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534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title" idx="2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">
  <p:cSld name="TITLE_6_1">
    <p:bg>
      <p:bgPr>
        <a:solidFill>
          <a:srgbClr val="C6DAFC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7200"/>
              <a:buFont typeface="Google Sans"/>
              <a:buNone/>
              <a:defRPr sz="72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title" idx="2"/>
          </p:nvPr>
        </p:nvSpPr>
        <p:spPr>
          <a:xfrm>
            <a:off x="772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1400"/>
              <a:buFont typeface="Google Sans Medium"/>
              <a:buNone/>
              <a:defRPr sz="14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A73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">
  <p:cSld name="TITLE_6_1_1">
    <p:bg>
      <p:bgPr>
        <a:solidFill>
          <a:srgbClr val="FAD2C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7200"/>
              <a:buFont typeface="Google Sans"/>
              <a:buNone/>
              <a:defRPr sz="720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title" idx="2"/>
          </p:nvPr>
        </p:nvSpPr>
        <p:spPr>
          <a:xfrm>
            <a:off x="772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Font typeface="Google Sans Medium"/>
              <a:buNone/>
              <a:defRPr sz="1400">
                <a:solidFill>
                  <a:srgbClr val="C5221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9" name="Google Shape;69;p17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C52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 1">
  <p:cSld name="TITLE_6_1_1_1">
    <p:bg>
      <p:bgPr>
        <a:solidFill>
          <a:srgbClr val="CEEAD6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7200"/>
              <a:buFont typeface="Google Sans"/>
              <a:buNone/>
              <a:defRPr sz="72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title" idx="2"/>
          </p:nvPr>
        </p:nvSpPr>
        <p:spPr>
          <a:xfrm>
            <a:off x="73647" y="84729"/>
            <a:ext cx="33168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Font typeface="Google Sans Medium"/>
              <a:buNone/>
              <a:defRPr sz="14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73" name="Google Shape;73;p18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8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 1 1">
  <p:cSld name="TITLE_6_1_1_1_1">
    <p:bg>
      <p:bgPr>
        <a:solidFill>
          <a:srgbClr val="FEEFC3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7200"/>
              <a:buFont typeface="Google Sans"/>
              <a:buNone/>
              <a:defRPr sz="7200">
                <a:solidFill>
                  <a:srgbClr val="EA86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title" idx="2"/>
          </p:nvPr>
        </p:nvSpPr>
        <p:spPr>
          <a:xfrm>
            <a:off x="73647" y="84729"/>
            <a:ext cx="34194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77" name="Google Shape;77;p19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EA8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0" name="Google Shape;80;p20"/>
          <p:cNvSpPr/>
          <p:nvPr/>
        </p:nvSpPr>
        <p:spPr>
          <a:xfrm>
            <a:off x="273214" y="433778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81" name="Google Shape;81;p20"/>
          <p:cNvSpPr txBox="1">
            <a:spLocks noGrp="1"/>
          </p:cNvSpPr>
          <p:nvPr>
            <p:ph type="title" idx="2"/>
          </p:nvPr>
        </p:nvSpPr>
        <p:spPr>
          <a:xfrm>
            <a:off x="472761" y="3201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title" idx="3"/>
          </p:nvPr>
        </p:nvSpPr>
        <p:spPr>
          <a:xfrm>
            <a:off x="124549" y="877650"/>
            <a:ext cx="891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title" idx="4"/>
          </p:nvPr>
        </p:nvSpPr>
        <p:spPr>
          <a:xfrm>
            <a:off x="938098" y="877650"/>
            <a:ext cx="64779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4" name="Google Shape;84;p20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title" idx="2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8" name="Google Shape;88;p21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2">
  <p:cSld name="TITLE_AND_BODY_1_2">
    <p:bg>
      <p:bgPr>
        <a:solidFill>
          <a:srgbClr val="050505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title" idx="2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None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92" name="Google Shape;92;p22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1">
  <p:cSld name="TITLE_AND_BODY_1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5" name="Google Shape;95;p23"/>
          <p:cNvSpPr/>
          <p:nvPr/>
        </p:nvSpPr>
        <p:spPr>
          <a:xfrm>
            <a:off x="273214" y="433778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96" name="Google Shape;96;p23"/>
          <p:cNvSpPr txBox="1">
            <a:spLocks noGrp="1"/>
          </p:cNvSpPr>
          <p:nvPr>
            <p:ph type="title" idx="2"/>
          </p:nvPr>
        </p:nvSpPr>
        <p:spPr>
          <a:xfrm>
            <a:off x="472761" y="3201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title" idx="3"/>
          </p:nvPr>
        </p:nvSpPr>
        <p:spPr>
          <a:xfrm>
            <a:off x="547022" y="73251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title" idx="4"/>
          </p:nvPr>
        </p:nvSpPr>
        <p:spPr>
          <a:xfrm>
            <a:off x="566518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title" idx="5"/>
          </p:nvPr>
        </p:nvSpPr>
        <p:spPr>
          <a:xfrm>
            <a:off x="5491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/>
          <p:nvPr/>
        </p:nvSpPr>
        <p:spPr>
          <a:xfrm>
            <a:off x="5906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title" idx="6"/>
          </p:nvPr>
        </p:nvSpPr>
        <p:spPr>
          <a:xfrm>
            <a:off x="2673118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title" idx="7"/>
          </p:nvPr>
        </p:nvSpPr>
        <p:spPr>
          <a:xfrm>
            <a:off x="26557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3" name="Google Shape;103;p23"/>
          <p:cNvSpPr/>
          <p:nvPr/>
        </p:nvSpPr>
        <p:spPr>
          <a:xfrm>
            <a:off x="26972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title" idx="8"/>
          </p:nvPr>
        </p:nvSpPr>
        <p:spPr>
          <a:xfrm>
            <a:off x="4779717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title" idx="9"/>
          </p:nvPr>
        </p:nvSpPr>
        <p:spPr>
          <a:xfrm>
            <a:off x="47623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6" name="Google Shape;106;p23"/>
          <p:cNvSpPr/>
          <p:nvPr/>
        </p:nvSpPr>
        <p:spPr>
          <a:xfrm>
            <a:off x="48038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3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  <p15:guide id="3" pos="405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7">
  <p:cSld name="TITLE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>
            <a:spLocks noGrp="1"/>
          </p:cNvSpPr>
          <p:nvPr>
            <p:ph type="title"/>
          </p:nvPr>
        </p:nvSpPr>
        <p:spPr>
          <a:xfrm>
            <a:off x="471908" y="744575"/>
            <a:ext cx="82221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subTitle" idx="1"/>
          </p:nvPr>
        </p:nvSpPr>
        <p:spPr>
          <a:xfrm>
            <a:off x="471900" y="2834125"/>
            <a:ext cx="8222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, Big Text 1">
  <p:cSld name="CUSTOM_1_3_1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>
            <a:spLocks noGrp="1"/>
          </p:cNvSpPr>
          <p:nvPr>
            <p:ph type="subTitle" idx="1"/>
          </p:nvPr>
        </p:nvSpPr>
        <p:spPr>
          <a:xfrm>
            <a:off x="512600" y="363000"/>
            <a:ext cx="3154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4" name="Google Shape;114;p25"/>
          <p:cNvSpPr txBox="1"/>
          <p:nvPr/>
        </p:nvSpPr>
        <p:spPr>
          <a:xfrm>
            <a:off x="7291550" y="4759871"/>
            <a:ext cx="17160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google_logo Design </a:t>
            </a:r>
            <a:endParaRPr sz="100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2"/>
          </p:nvPr>
        </p:nvSpPr>
        <p:spPr>
          <a:xfrm>
            <a:off x="144400" y="666750"/>
            <a:ext cx="7287300" cy="3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Char char="●"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marL="1828800" lvl="3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marL="2286000" lvl="4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marL="2743200" lvl="5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marL="3200400" lvl="6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marL="3657600" lvl="7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marL="4114800" lvl="8" indent="-3683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sldNum" idx="12"/>
          </p:nvPr>
        </p:nvSpPr>
        <p:spPr>
          <a:xfrm>
            <a:off x="144409" y="473996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title"/>
          </p:nvPr>
        </p:nvSpPr>
        <p:spPr>
          <a:xfrm>
            <a:off x="186800" y="125326"/>
            <a:ext cx="2854800" cy="3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8" name="Google Shape;118;p25"/>
          <p:cNvSpPr/>
          <p:nvPr/>
        </p:nvSpPr>
        <p:spPr>
          <a:xfrm>
            <a:off x="295489" y="479931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119" name="Google Shape;119;p25"/>
          <p:cNvSpPr txBox="1"/>
          <p:nvPr/>
        </p:nvSpPr>
        <p:spPr>
          <a:xfrm>
            <a:off x="6891900" y="186907"/>
            <a:ext cx="20997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46464"/>
                </a:solidFill>
                <a:latin typeface="Google Sans"/>
                <a:ea typeface="Google Sans"/>
                <a:cs typeface="Google Sans"/>
                <a:sym typeface="Google Sans"/>
              </a:rPr>
              <a:t>Confidential + Proprietary</a:t>
            </a:r>
            <a:endParaRPr sz="800">
              <a:solidFill>
                <a:srgbClr val="64646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Black Text 1">
  <p:cSld name="TITLE_6_2">
    <p:bg>
      <p:bgPr>
        <a:solidFill>
          <a:srgbClr val="1DE9B6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title" idx="2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23" name="Google Shape;123;p26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line title">
  <p:cSld name="BLANK_5_1_2_1_2"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>
            <a:spLocks noGrp="1"/>
          </p:cNvSpPr>
          <p:nvPr>
            <p:ph type="title"/>
          </p:nvPr>
        </p:nvSpPr>
        <p:spPr>
          <a:xfrm>
            <a:off x="377575" y="742925"/>
            <a:ext cx="5541000" cy="12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8"/>
          <p:cNvSpPr txBox="1">
            <a:spLocks noGrp="1"/>
          </p:cNvSpPr>
          <p:nvPr>
            <p:ph type="subTitle" idx="1"/>
          </p:nvPr>
        </p:nvSpPr>
        <p:spPr>
          <a:xfrm>
            <a:off x="377575" y="1834750"/>
            <a:ext cx="3984300" cy="21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29" name="Google Shape;129;p28"/>
          <p:cNvCxnSpPr/>
          <p:nvPr/>
        </p:nvCxnSpPr>
        <p:spPr>
          <a:xfrm>
            <a:off x="499275" y="1609425"/>
            <a:ext cx="5850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0" name="Google Shape;130;p2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317224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8">
  <p:cSld name="TITLE_8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7" name="Google Shape;137;p3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 with title">
  <p:cSld name="CUSTOM_2_1"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 txBox="1">
            <a:spLocks noGrp="1"/>
          </p:cNvSpPr>
          <p:nvPr>
            <p:ph type="title"/>
          </p:nvPr>
        </p:nvSpPr>
        <p:spPr>
          <a:xfrm>
            <a:off x="377575" y="285725"/>
            <a:ext cx="7519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pic>
        <p:nvPicPr>
          <p:cNvPr id="141" name="Google Shape;141;p3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488699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32"/>
          <p:cNvSpPr/>
          <p:nvPr/>
        </p:nvSpPr>
        <p:spPr>
          <a:xfrm>
            <a:off x="241450" y="4077968"/>
            <a:ext cx="8526300" cy="857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2"/>
          <p:cNvSpPr/>
          <p:nvPr/>
        </p:nvSpPr>
        <p:spPr>
          <a:xfrm>
            <a:off x="241450" y="2846757"/>
            <a:ext cx="8526300" cy="1180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2"/>
          <p:cNvSpPr/>
          <p:nvPr/>
        </p:nvSpPr>
        <p:spPr>
          <a:xfrm>
            <a:off x="241450" y="1386655"/>
            <a:ext cx="8526300" cy="140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2"/>
          <p:cNvSpPr/>
          <p:nvPr/>
        </p:nvSpPr>
        <p:spPr>
          <a:xfrm>
            <a:off x="241450" y="754678"/>
            <a:ext cx="8526300" cy="580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2"/>
          <p:cNvSpPr txBox="1"/>
          <p:nvPr/>
        </p:nvSpPr>
        <p:spPr>
          <a:xfrm>
            <a:off x="166622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2"/>
          <p:cNvSpPr txBox="1"/>
          <p:nvPr/>
        </p:nvSpPr>
        <p:spPr>
          <a:xfrm>
            <a:off x="3077000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2"/>
          <p:cNvSpPr txBox="1"/>
          <p:nvPr/>
        </p:nvSpPr>
        <p:spPr>
          <a:xfrm>
            <a:off x="4516400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2"/>
          <p:cNvSpPr txBox="1"/>
          <p:nvPr/>
        </p:nvSpPr>
        <p:spPr>
          <a:xfrm>
            <a:off x="59258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2"/>
          <p:cNvSpPr txBox="1"/>
          <p:nvPr/>
        </p:nvSpPr>
        <p:spPr>
          <a:xfrm>
            <a:off x="73478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2"/>
          <p:cNvSpPr txBox="1"/>
          <p:nvPr/>
        </p:nvSpPr>
        <p:spPr>
          <a:xfrm>
            <a:off x="2441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32"/>
          <p:cNvCxnSpPr/>
          <p:nvPr/>
        </p:nvCxnSpPr>
        <p:spPr>
          <a:xfrm>
            <a:off x="1668323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5" name="Google Shape;155;p32"/>
          <p:cNvCxnSpPr/>
          <p:nvPr/>
        </p:nvCxnSpPr>
        <p:spPr>
          <a:xfrm>
            <a:off x="3088209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" name="Google Shape;156;p32"/>
          <p:cNvCxnSpPr/>
          <p:nvPr/>
        </p:nvCxnSpPr>
        <p:spPr>
          <a:xfrm>
            <a:off x="4508094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" name="Google Shape;157;p32"/>
          <p:cNvCxnSpPr/>
          <p:nvPr/>
        </p:nvCxnSpPr>
        <p:spPr>
          <a:xfrm>
            <a:off x="5927979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Google Shape;158;p32"/>
          <p:cNvCxnSpPr/>
          <p:nvPr/>
        </p:nvCxnSpPr>
        <p:spPr>
          <a:xfrm>
            <a:off x="248438" y="754675"/>
            <a:ext cx="0" cy="418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Google Shape;159;p32"/>
          <p:cNvCxnSpPr/>
          <p:nvPr/>
        </p:nvCxnSpPr>
        <p:spPr>
          <a:xfrm>
            <a:off x="7347865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Google Shape;160;p32"/>
          <p:cNvCxnSpPr/>
          <p:nvPr/>
        </p:nvCxnSpPr>
        <p:spPr>
          <a:xfrm>
            <a:off x="8767750" y="754675"/>
            <a:ext cx="2700" cy="416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1" name="Google Shape;161;p32"/>
          <p:cNvSpPr txBox="1"/>
          <p:nvPr/>
        </p:nvSpPr>
        <p:spPr>
          <a:xfrm>
            <a:off x="171175" y="119650"/>
            <a:ext cx="59988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Persona:</a:t>
            </a:r>
            <a:b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2"/>
          <p:cNvSpPr txBox="1"/>
          <p:nvPr/>
        </p:nvSpPr>
        <p:spPr>
          <a:xfrm rot="-5400000">
            <a:off x="-175500" y="881750"/>
            <a:ext cx="6294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2"/>
          <p:cNvSpPr txBox="1"/>
          <p:nvPr/>
        </p:nvSpPr>
        <p:spPr>
          <a:xfrm rot="-5400000">
            <a:off x="-173200" y="1951913"/>
            <a:ext cx="5649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2"/>
          <p:cNvSpPr txBox="1"/>
          <p:nvPr/>
        </p:nvSpPr>
        <p:spPr>
          <a:xfrm rot="-5400000">
            <a:off x="-326800" y="3280432"/>
            <a:ext cx="872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/>
              <a:t>Emotions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2"/>
          <p:cNvSpPr txBox="1"/>
          <p:nvPr/>
        </p:nvSpPr>
        <p:spPr>
          <a:xfrm rot="-5400000">
            <a:off x="-409450" y="4377825"/>
            <a:ext cx="1003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2"/>
          <p:cNvSpPr/>
          <p:nvPr/>
        </p:nvSpPr>
        <p:spPr>
          <a:xfrm>
            <a:off x="241450" y="754678"/>
            <a:ext cx="8526300" cy="592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2"/>
          <p:cNvSpPr/>
          <p:nvPr/>
        </p:nvSpPr>
        <p:spPr>
          <a:xfrm>
            <a:off x="241450" y="4114209"/>
            <a:ext cx="8526300" cy="866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2"/>
          <p:cNvSpPr/>
          <p:nvPr/>
        </p:nvSpPr>
        <p:spPr>
          <a:xfrm>
            <a:off x="241450" y="2869572"/>
            <a:ext cx="8526300" cy="1193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2"/>
          <p:cNvSpPr/>
          <p:nvPr/>
        </p:nvSpPr>
        <p:spPr>
          <a:xfrm>
            <a:off x="241450" y="1393547"/>
            <a:ext cx="8526300" cy="1424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32"/>
          <p:cNvCxnSpPr/>
          <p:nvPr/>
        </p:nvCxnSpPr>
        <p:spPr>
          <a:xfrm>
            <a:off x="3088209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1" name="Google Shape;171;p32"/>
          <p:cNvCxnSpPr/>
          <p:nvPr/>
        </p:nvCxnSpPr>
        <p:spPr>
          <a:xfrm>
            <a:off x="4508094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2" name="Google Shape;172;p32"/>
          <p:cNvCxnSpPr/>
          <p:nvPr/>
        </p:nvCxnSpPr>
        <p:spPr>
          <a:xfrm>
            <a:off x="5927979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3" name="Google Shape;173;p32"/>
          <p:cNvCxnSpPr/>
          <p:nvPr/>
        </p:nvCxnSpPr>
        <p:spPr>
          <a:xfrm>
            <a:off x="248438" y="754675"/>
            <a:ext cx="0" cy="423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4" name="Google Shape;174;p32"/>
          <p:cNvCxnSpPr/>
          <p:nvPr/>
        </p:nvCxnSpPr>
        <p:spPr>
          <a:xfrm>
            <a:off x="7347865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5" name="Google Shape;175;p32"/>
          <p:cNvCxnSpPr/>
          <p:nvPr/>
        </p:nvCxnSpPr>
        <p:spPr>
          <a:xfrm>
            <a:off x="8767750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32"/>
          <p:cNvSpPr txBox="1"/>
          <p:nvPr/>
        </p:nvSpPr>
        <p:spPr>
          <a:xfrm>
            <a:off x="73478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2"/>
          <p:cNvSpPr txBox="1"/>
          <p:nvPr/>
        </p:nvSpPr>
        <p:spPr>
          <a:xfrm>
            <a:off x="274400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2"/>
          <p:cNvSpPr txBox="1"/>
          <p:nvPr/>
        </p:nvSpPr>
        <p:spPr>
          <a:xfrm>
            <a:off x="3085050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2"/>
          <p:cNvSpPr txBox="1"/>
          <p:nvPr/>
        </p:nvSpPr>
        <p:spPr>
          <a:xfrm>
            <a:off x="45059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2"/>
          <p:cNvSpPr txBox="1"/>
          <p:nvPr/>
        </p:nvSpPr>
        <p:spPr>
          <a:xfrm>
            <a:off x="5925875" y="13874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2"/>
          <p:cNvSpPr txBox="1"/>
          <p:nvPr/>
        </p:nvSpPr>
        <p:spPr>
          <a:xfrm>
            <a:off x="16651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32"/>
          <p:cNvCxnSpPr/>
          <p:nvPr/>
        </p:nvCxnSpPr>
        <p:spPr>
          <a:xfrm>
            <a:off x="1668323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/>
        </p:nvSpPr>
        <p:spPr>
          <a:xfrm>
            <a:off x="171664" y="4079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300"/>
              </a:spcAft>
            </a:pPr>
            <a:r>
              <a:rPr lang="en" sz="11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Ananya Roy's Goal:</a:t>
            </a:r>
            <a:r>
              <a:rPr lang="en-IN" sz="1100" dirty="0"/>
              <a:t>Discover trending outfits on Savana for content creation, verify fit, and track delivery fast.</a:t>
            </a:r>
            <a:endParaRPr sz="11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89" name="Google Shape;189;p33"/>
          <p:cNvGraphicFramePr/>
          <p:nvPr>
            <p:extLst>
              <p:ext uri="{D42A27DB-BD31-4B8C-83A1-F6EECF244321}">
                <p14:modId xmlns:p14="http://schemas.microsoft.com/office/powerpoint/2010/main" val="1214101334"/>
              </p:ext>
            </p:extLst>
          </p:nvPr>
        </p:nvGraphicFramePr>
        <p:xfrm>
          <a:off x="226350" y="700000"/>
          <a:ext cx="8582100" cy="4073576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43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Discover &amp; Search</a:t>
                      </a:r>
                      <a:endParaRPr sz="11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Compare &amp; Select</a:t>
                      </a: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Enter Details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Apply Offers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Checkout &amp; Confirm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0000">
                <a:tc>
                  <a:txBody>
                    <a:bodyPr/>
                    <a:lstStyle/>
                    <a:p>
                      <a:pPr marL="177800" lvl="0" indent="-11430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 LIST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A. Opens Savana app to browse the "Trending Now" feed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B. Scrolls curated micro-trend and influencer-style categories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C. Saves eye-catching items to a moodboard wishlist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A. Compares similar aesthetic pieces across brands and price points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B. Looks for user photos to judge fit and material quality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C. Checks price against her content-creation budget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A. Selects size using the limited size guide available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B. Enters her shipping address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C. Reviews the estimated international delivery timeline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/>
                        <a:t>A. Checks for student or creator discount codes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B. Applies the best available coupon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C. Completes payment for the order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/>
                        <a:t>A. Receives order confirmation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B. Tracks the international shipment status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C. Shares the new look on her social feed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FEELING ADJECTIVE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Excited, Inspired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Curious,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Uneasy about fit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Uncertain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Hopeful, Confident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Anxious, then Relieved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IMPROVEMENT OPPORTUNITIES</a:t>
                      </a:r>
                      <a:endParaRPr sz="1100" b="1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114300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Add more user-submitted fit photos and short video try-ons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Highlight sizing consistency across international brands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Provide clearer international delivery estimates and size prediction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Surface student/creator discounts automatically at checkout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Offer real-time cross-border tracking and simpler international returns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/>
        </p:nvSpPr>
        <p:spPr>
          <a:xfrm>
            <a:off x="171664" y="4079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300"/>
              </a:spcAft>
            </a:pPr>
            <a:r>
              <a:rPr lang="en" sz="11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Vikram Sen's Goal:</a:t>
            </a:r>
            <a:r>
              <a:rPr lang="en-IN" sz="1100" dirty="0"/>
              <a:t>Buy authentic, high-quality formal wear on Savana with minimal clicks and fast delivery.</a:t>
            </a:r>
            <a:endParaRPr sz="11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89" name="Google Shape;189;p33"/>
          <p:cNvGraphicFramePr/>
          <p:nvPr>
            <p:extLst>
              <p:ext uri="{D42A27DB-BD31-4B8C-83A1-F6EECF244321}">
                <p14:modId xmlns:p14="http://schemas.microsoft.com/office/powerpoint/2010/main" val="1214101334"/>
              </p:ext>
            </p:extLst>
          </p:nvPr>
        </p:nvGraphicFramePr>
        <p:xfrm>
          <a:off x="226350" y="700000"/>
          <a:ext cx="8582100" cy="4073576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43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Discover &amp; Search</a:t>
                      </a:r>
                      <a:endParaRPr sz="11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Compare &amp; Select</a:t>
                      </a: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Enter Details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Apply Offers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Checkout &amp; Confirm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0000">
                <a:tc>
                  <a:txBody>
                    <a:bodyPr/>
                    <a:lstStyle/>
                    <a:p>
                      <a:pPr marL="177800" lvl="0" indent="-11430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 LIST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A. Opens the app and skips past promotional banners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B. Searches and filters directly by brand, fabric, and fit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C. Filters out irrelevant fast-fashion recommendations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A. Compares premium brand options on price and quality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B. Reads brand authenticity and material details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C. Shortlists two or three formal/smart-casual pieces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A. Selects size and fit using the size chart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B. Enters delivery address for fast doorstep delivery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C. Checks the expected delivery date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/>
                        <a:t>A. Reviews the shopping cart total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B. Applies a coupon code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C. Hits an unclear coupon restriction at checkout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/>
                        <a:t>A. Completes payment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B. Receives order confirmation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C. Requests a hassle-free size exchange when needed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FEELING ADJECTIVE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Focused, Mildly irritated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Analytical,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Confident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Efficient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Frustrated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Relieved, Satisfied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IMPROVEMENT OPPORTUNITIES</a:t>
                      </a:r>
                      <a:endParaRPr sz="1100" b="1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114300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Reduce homepage clutter and let users dismiss promotional pop-ups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Simplify navigation to premium brand categories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Speed up and clarify size-fit information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Make coupon terms and failure reasons transparent upfront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Streamline the size-exchange process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/>
        </p:nvSpPr>
        <p:spPr>
          <a:xfrm>
            <a:off x="171664" y="4079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300"/>
              </a:spcAft>
            </a:pPr>
            <a:r>
              <a:rPr lang="en" sz="11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Neha Kulkarni's Goal:</a:t>
            </a:r>
            <a:r>
              <a:rPr lang="en-IN" sz="1100" dirty="0"/>
              <a:t>Maximise savings on Savana with the best coupons and cashback, avoiding hidden fees.</a:t>
            </a:r>
            <a:endParaRPr sz="11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89" name="Google Shape;189;p33"/>
          <p:cNvGraphicFramePr/>
          <p:nvPr>
            <p:extLst>
              <p:ext uri="{D42A27DB-BD31-4B8C-83A1-F6EECF244321}">
                <p14:modId xmlns:p14="http://schemas.microsoft.com/office/powerpoint/2010/main" val="1214101334"/>
              </p:ext>
            </p:extLst>
          </p:nvPr>
        </p:nvGraphicFramePr>
        <p:xfrm>
          <a:off x="226350" y="700000"/>
          <a:ext cx="8582100" cy="4073576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43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Discover &amp; Search</a:t>
                      </a:r>
                      <a:endParaRPr sz="11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Compare &amp; Select</a:t>
                      </a: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Enter Details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Apply Offers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Checkout &amp; Confirm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0000">
                <a:tc>
                  <a:txBody>
                    <a:bodyPr/>
                    <a:lstStyle/>
                    <a:p>
                      <a:pPr marL="177800" lvl="0" indent="-11430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 LIST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A. Browses wardrobe staples during major sale events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B. Cross-checks prices for the same item across apps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C. Adds items to her wishlist to track price drops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A. Compares "original price" markups against actual discounts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B. Checks bank cashback eligibility on each item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C. Reads reviews to judge value for money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A. Selects size and confirms stock availability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B. Enters her delivery address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C. Looks for an upfront pricing breakdown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/>
                        <a:t>A. Stacks the best coupon with an available bank offer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B. Applies the discount code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C. Verifies the final total before paying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/>
                        <a:t>A. Completes payment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B. Confirms no hidden charges appeared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C. Sets a price-drop alert on remaining wishlist items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FEELING ADJECTIVE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Analytical, Curious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Skeptical,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Determined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Cautious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Hopeful, Alert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Satisfied, unless fees appear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IMPROVEMENT OPPORTUNITIES</a:t>
                      </a:r>
                      <a:endParaRPr sz="1100" b="1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114300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Show transparent price history instead of inflated markups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Auto-surface bank cashback eligibility while browsing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Display all platform, delivery, and handling fees upfront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Auto-apply the best coupon and cashback combination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Send price-drop alerts for wishlisted items still in stock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/>
        </p:nvSpPr>
        <p:spPr>
          <a:xfrm>
            <a:off x="171664" y="4079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300"/>
              </a:spcAft>
            </a:pPr>
            <a:r>
              <a:rPr lang="en" sz="11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Rajesh Patil's Goal:</a:t>
            </a:r>
            <a:r>
              <a:rPr lang="en-IN" sz="1100" dirty="0"/>
              <a:t>Buy reliable family clothing on Savana through a simple, trustworthy, secure process.</a:t>
            </a:r>
            <a:endParaRPr sz="11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89" name="Google Shape;189;p33"/>
          <p:cNvGraphicFramePr/>
          <p:nvPr>
            <p:extLst>
              <p:ext uri="{D42A27DB-BD31-4B8C-83A1-F6EECF244321}">
                <p14:modId xmlns:p14="http://schemas.microsoft.com/office/powerpoint/2010/main" val="1214101334"/>
              </p:ext>
            </p:extLst>
          </p:nvPr>
        </p:nvGraphicFramePr>
        <p:xfrm>
          <a:off x="226350" y="700000"/>
          <a:ext cx="8582100" cy="4073576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43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Discover &amp; Search</a:t>
                      </a:r>
                      <a:endParaRPr sz="11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Compare &amp; Select</a:t>
                      </a: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Enter Details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Apply Offers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Checkout &amp; Confirm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0000">
                <a:tc>
                  <a:txBody>
                    <a:bodyPr/>
                    <a:lstStyle/>
                    <a:p>
                      <a:pPr marL="177800" lvl="0" indent="-11430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 LIST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A. Opens Savana via the simple home menu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B. Browses direct category listings for men's, kids, and ethnic wear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C. Avoids nested, complex sub-menus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A. Compares similar branded family-wear items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B. Looks at real customer photo reviews for reassurance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C. Checks the size chart carefully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A. Selects size and colour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B. Enters a family member's delivery address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C. Checks the return and refund policy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/>
                        <a:t>A. Reviews the cart total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B. Chooses Cash on Delivery or UPI as payment method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C. Confirms the payment method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/>
                        <a:t>A. Receives order confirmation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B. Tracks the delivery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C. Contacts customer support if an exchange is needed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FEELING ADJECTIVE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Cautious, Hopeful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Careful,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Reassured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Uncertain about returns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Reassured, Confident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Satisfied, wary of support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IMPROVEMENT OPPORTUNITIES</a:t>
                      </a:r>
                      <a:endParaRPr sz="1100" b="1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114300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Simplify navigation with clear, direct category menus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Use larger fonts and clearer product photos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State return and refund policies clearly upfront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Keep trusted payment options like COD/UPI prominent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Provide faster, more responsive support for exchanges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/>
        </p:nvSpPr>
        <p:spPr>
          <a:xfrm>
            <a:off x="171664" y="4079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300"/>
              </a:spcAft>
            </a:pPr>
            <a:r>
              <a:rPr lang="en" sz="11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Ishita Sharma's Goal:</a:t>
            </a:r>
            <a:r>
              <a:rPr lang="en-IN" sz="1100" dirty="0"/>
              <a:t>Enjoy a smooth, visual browsing experience on Savana and shop looks on impulse easily.</a:t>
            </a:r>
            <a:endParaRPr sz="11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89" name="Google Shape;189;p33"/>
          <p:cNvGraphicFramePr/>
          <p:nvPr>
            <p:extLst>
              <p:ext uri="{D42A27DB-BD31-4B8C-83A1-F6EECF244321}">
                <p14:modId xmlns:p14="http://schemas.microsoft.com/office/powerpoint/2010/main" val="1214101334"/>
              </p:ext>
            </p:extLst>
          </p:nvPr>
        </p:nvGraphicFramePr>
        <p:xfrm>
          <a:off x="226350" y="700000"/>
          <a:ext cx="8582100" cy="4073576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43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Discover &amp; Search</a:t>
                      </a:r>
                      <a:endParaRPr sz="11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Compare &amp; Select</a:t>
                      </a:r>
                      <a:endParaRPr sz="11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Enter Details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Apply Offers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Checkout &amp; Confirm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0000">
                <a:tc>
                  <a:txBody>
                    <a:bodyPr/>
                    <a:lstStyle/>
                    <a:p>
                      <a:pPr marL="177800" lvl="0" indent="-11430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 LIST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A. Opens Savana to scroll the visual, moodboard-style feed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B. Explores "Shop the Look" and style suggestions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C. Saves outfits to curated collections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A. Compares looks within her saved collections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B. Views high-resolution product previews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C. Picks pieces to complete the look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A. Selects size and colour quickly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B. Gets interrupted by a login pop-up mid-flow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C. Re-enters details after logging in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/>
                        <a:t>A. Reviews wishlist items that are close to selling out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B. Applies any available discount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C. Completes payment quickly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/>
                        <a:t>A. Receives order confirmation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B. Adds new look ideas to her wishlist</a:t>
                      </a:r>
                      <a:br>
                        <a:rPr lang="en-IN" sz="1000" dirty="0"/>
                      </a:br>
                      <a:r>
                        <a:rPr lang="en-IN" sz="1000" dirty="0"/>
                        <a:t>C. Shares outfit inspiration with friends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FEELING ADJECTIVE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Relaxed, Inspired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Engaged,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Playful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Annoyed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Urgent, Excited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Satisfied, Inspired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IMPROVEMENT OPPORTUNITIES</a:t>
                      </a:r>
                      <a:endParaRPr sz="1100" b="1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114300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Optimise image load speed for smooth, uninterrupted scrolling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Favour richer visual previews over text-heavy layouts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Remove abrupt login modals in the middle of shopping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Add stock/selling-out alerts for wishlist items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Keep a smooth post-purchase discovery flow going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263238"/>
      </a:dk1>
      <a:lt1>
        <a:srgbClr val="FFFFFF"/>
      </a:lt1>
      <a:dk2>
        <a:srgbClr val="919090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</Words>
  <Application>Microsoft Office PowerPoint</Application>
  <PresentationFormat>On-screen Show (16:9)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Google Sans</vt:lpstr>
      <vt:lpstr>Google Sans Medium</vt:lpstr>
      <vt:lpstr>Arial</vt:lpstr>
      <vt:lpstr>Simple Light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Bhavika Rane</dc:creator>
  <cp:lastModifiedBy>Shlok More</cp:lastModifiedBy>
  <cp:revision>2</cp:revision>
  <dcterms:modified xsi:type="dcterms:W3CDTF">2026-08-19T13:30:37Z</dcterms:modified>
</cp:coreProperties>
</file>